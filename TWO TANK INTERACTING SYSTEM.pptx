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5434B07-422F-43D8-8569-419BB14512A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10E8AFA-9AC6-4CCF-B596-ADF97BD6904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</a:t>
            </a:r>
          </a:p>
          <a:p>
            <a:r>
              <a:rPr lang="en-US" dirty="0" err="1" smtClean="0"/>
              <a:t>Shubham</a:t>
            </a:r>
            <a:r>
              <a:rPr lang="en-US" dirty="0" smtClean="0"/>
              <a:t> </a:t>
            </a:r>
            <a:r>
              <a:rPr lang="en-US" dirty="0" err="1" smtClean="0"/>
              <a:t>Priyadarshi</a:t>
            </a:r>
            <a:endParaRPr lang="en-US" dirty="0" smtClean="0"/>
          </a:p>
          <a:p>
            <a:r>
              <a:rPr lang="en-US" dirty="0" smtClean="0"/>
              <a:t>2023CHB1081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/>
          <a:lstStyle/>
          <a:p>
            <a:r>
              <a:rPr lang="en-US" b="1" dirty="0" smtClean="0"/>
              <a:t>TWO TANK INTERACTING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2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Two liquid surge tanks are connected in </a:t>
            </a:r>
            <a:r>
              <a:rPr lang="en-US" sz="1400" b="1" dirty="0" smtClean="0"/>
              <a:t>series</a:t>
            </a:r>
            <a:r>
              <a:rPr lang="en-US" sz="1400" dirty="0" smtClean="0"/>
              <a:t> so that the </a:t>
            </a:r>
            <a:r>
              <a:rPr lang="en-US" sz="1400" b="1" dirty="0" smtClean="0"/>
              <a:t>outflow from Tank 1</a:t>
            </a:r>
            <a:r>
              <a:rPr lang="en-US" sz="1400" dirty="0" smtClean="0"/>
              <a:t> becomes the </a:t>
            </a:r>
            <a:r>
              <a:rPr lang="en-US" sz="1400" b="1" dirty="0" smtClean="0"/>
              <a:t>inflow to Tank 2</a:t>
            </a:r>
            <a:r>
              <a:rPr lang="en-US" sz="1400" dirty="0" smtClean="0"/>
              <a:t>.</a:t>
            </a:r>
          </a:p>
          <a:p>
            <a:r>
              <a:rPr lang="en-US" sz="1400" dirty="0" smtClean="0"/>
              <a:t>The </a:t>
            </a:r>
            <a:r>
              <a:rPr lang="en-US" sz="1400" b="1" dirty="0" smtClean="0"/>
              <a:t>inlet </a:t>
            </a:r>
            <a:r>
              <a:rPr lang="en-US" sz="1400" b="1" dirty="0" err="1" smtClean="0"/>
              <a:t>flowrate</a:t>
            </a:r>
            <a:r>
              <a:rPr lang="en-US" sz="1400" b="1" dirty="0" smtClean="0"/>
              <a:t> to Tank 1</a:t>
            </a:r>
            <a:r>
              <a:rPr lang="en-US" sz="1400" dirty="0" smtClean="0"/>
              <a:t> is denoted by </a:t>
            </a:r>
            <a:r>
              <a:rPr lang="en-US" sz="1400" dirty="0" err="1" smtClean="0"/>
              <a:t>qiq_iqi</a:t>
            </a:r>
            <a:r>
              <a:rPr lang="en-US" sz="1400" dirty="0" smtClean="0"/>
              <a:t>​.</a:t>
            </a:r>
          </a:p>
          <a:p>
            <a:r>
              <a:rPr lang="en-US" sz="1400" dirty="0" smtClean="0"/>
              <a:t>The </a:t>
            </a:r>
            <a:r>
              <a:rPr lang="en-US" sz="1400" b="1" dirty="0" smtClean="0"/>
              <a:t>outlet </a:t>
            </a:r>
            <a:r>
              <a:rPr lang="en-US" sz="1400" b="1" dirty="0" err="1" smtClean="0"/>
              <a:t>flowrate</a:t>
            </a:r>
            <a:r>
              <a:rPr lang="en-US" sz="1400" b="1" dirty="0" smtClean="0"/>
              <a:t> from Tank 1</a:t>
            </a:r>
            <a:r>
              <a:rPr lang="en-US" sz="1400" dirty="0" smtClean="0"/>
              <a:t>, which is also the </a:t>
            </a:r>
            <a:r>
              <a:rPr lang="en-US" sz="1400" b="1" dirty="0" smtClean="0"/>
              <a:t>inflow to Tank 2</a:t>
            </a:r>
            <a:r>
              <a:rPr lang="en-US" sz="1400" dirty="0" smtClean="0"/>
              <a:t>, is denoted by q1q_1q1​.</a:t>
            </a:r>
          </a:p>
          <a:p>
            <a:r>
              <a:rPr lang="en-US" sz="1400" dirty="0" smtClean="0"/>
              <a:t>The </a:t>
            </a:r>
            <a:r>
              <a:rPr lang="en-US" sz="1400" b="1" dirty="0" smtClean="0"/>
              <a:t>outlet </a:t>
            </a:r>
            <a:r>
              <a:rPr lang="en-US" sz="1400" b="1" dirty="0" err="1" smtClean="0"/>
              <a:t>flowrate</a:t>
            </a:r>
            <a:r>
              <a:rPr lang="en-US" sz="1400" b="1" dirty="0" smtClean="0"/>
              <a:t> from Tank 2</a:t>
            </a:r>
            <a:r>
              <a:rPr lang="en-US" sz="1400" dirty="0" smtClean="0"/>
              <a:t> is denoted by q2q_2q2​.</a:t>
            </a:r>
          </a:p>
          <a:p>
            <a:r>
              <a:rPr lang="en-US" sz="1400" dirty="0" smtClean="0"/>
              <a:t>The system aims to </a:t>
            </a:r>
            <a:r>
              <a:rPr lang="en-US" sz="1400" b="1" dirty="0" smtClean="0"/>
              <a:t>study the dynamic behavior of the liquid level in Tank 2</a:t>
            </a:r>
            <a:r>
              <a:rPr lang="en-US" sz="1400" dirty="0" smtClean="0"/>
              <a:t> when a </a:t>
            </a:r>
            <a:r>
              <a:rPr lang="en-US" sz="1400" b="1" dirty="0" smtClean="0"/>
              <a:t>step change</a:t>
            </a:r>
            <a:r>
              <a:rPr lang="en-US" sz="1400" dirty="0" smtClean="0"/>
              <a:t> is introduced in the </a:t>
            </a:r>
            <a:r>
              <a:rPr lang="en-US" sz="1400" b="1" dirty="0" smtClean="0"/>
              <a:t>inlet </a:t>
            </a:r>
            <a:r>
              <a:rPr lang="en-US" sz="1400" b="1" dirty="0" err="1" smtClean="0"/>
              <a:t>flowrate</a:t>
            </a:r>
            <a:r>
              <a:rPr lang="en-US" sz="1400" b="1" dirty="0" smtClean="0"/>
              <a:t>  qi​</a:t>
            </a:r>
            <a:r>
              <a:rPr lang="en-US" sz="1400" dirty="0" smtClean="0"/>
              <a:t> to Tank 1.</a:t>
            </a:r>
          </a:p>
          <a:p>
            <a:r>
              <a:rPr lang="en-US" sz="1400" dirty="0" smtClean="0"/>
              <a:t>Dynamic model equations of the system:</a:t>
            </a:r>
          </a:p>
          <a:p>
            <a:endParaRPr 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501006"/>
            <a:ext cx="364331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149080"/>
            <a:ext cx="1760091" cy="151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65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To identify process parameters, manipulated, disturbance, and controlled variables.</a:t>
            </a:r>
          </a:p>
          <a:p>
            <a:r>
              <a:rPr lang="en-US" sz="1400" dirty="0" smtClean="0"/>
              <a:t>To obtain the steady-state of the nonlinear system.</a:t>
            </a:r>
          </a:p>
          <a:p>
            <a:r>
              <a:rPr lang="en-US" sz="1400" dirty="0" smtClean="0"/>
              <a:t> To linearize the nonlinear model around steady-state to find matrices A, B, C, D.</a:t>
            </a:r>
          </a:p>
          <a:p>
            <a:r>
              <a:rPr lang="en-US" sz="1400" dirty="0" smtClean="0"/>
              <a:t> To develop transfer functions G(s)/qi and G(s)/q2.</a:t>
            </a:r>
          </a:p>
          <a:p>
            <a:r>
              <a:rPr lang="en-US" sz="1400" dirty="0" smtClean="0"/>
              <a:t> To compare linear and nonlinear model responses for insulin step inputs.</a:t>
            </a:r>
          </a:p>
          <a:p>
            <a:r>
              <a:rPr lang="en-US" sz="1400" dirty="0" smtClean="0"/>
              <a:t> To perform stability analysis using poles of the transfer functions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638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Steady State 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Ran the simulation until the system variables stabilized at their steady-state values.</a:t>
            </a:r>
          </a:p>
          <a:p>
            <a:r>
              <a:rPr lang="en-US" sz="1400" dirty="0" smtClean="0"/>
              <a:t>Steady state levels:</a:t>
            </a:r>
          </a:p>
          <a:p>
            <a:r>
              <a:rPr lang="en-US" sz="1400" dirty="0" smtClean="0"/>
              <a:t> h1_ss = 5.778 </a:t>
            </a:r>
            <a:r>
              <a:rPr lang="en-US" sz="1400" dirty="0" err="1" smtClean="0"/>
              <a:t>ft</a:t>
            </a:r>
            <a:endParaRPr lang="en-US" sz="1400" dirty="0" smtClean="0"/>
          </a:p>
          <a:p>
            <a:r>
              <a:rPr lang="en-US" sz="1400" dirty="0" smtClean="0"/>
              <a:t>h2_ss = 1.778 </a:t>
            </a:r>
            <a:r>
              <a:rPr lang="en-US" sz="1400" dirty="0" err="1" smtClean="0"/>
              <a:t>ft</a:t>
            </a:r>
            <a:endParaRPr lang="en-US" sz="1400" dirty="0" smtClean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5" y="1911127"/>
            <a:ext cx="4930775" cy="389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79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Non-Linear Model and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66720" cy="4997152"/>
          </a:xfrm>
        </p:spPr>
        <p:txBody>
          <a:bodyPr>
            <a:norm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change (+10%, +20%) was applied to the input variable.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Step +10%: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h1: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0.7442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Tau = 3.00 min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h2: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0.2400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Tau = 4.00 min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Step +20%: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h1: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0.7941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Tau = 3.00 min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h2: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0.2446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/(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cfm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Tau = 4.00 min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797" y="1916832"/>
            <a:ext cx="4724400" cy="381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46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Linearization &amp; Model Comparison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Uses Two approaches for linearization</a:t>
            </a:r>
          </a:p>
          <a:p>
            <a:pPr>
              <a:buFont typeface="+mj-lt"/>
              <a:buAutoNum type="arabicPeriod"/>
            </a:pPr>
            <a:r>
              <a:rPr lang="en-US" sz="1400" dirty="0" smtClean="0"/>
              <a:t>Approach 1: Single Input (qi)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    Here, q2 is treated as independent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    variable</a:t>
            </a:r>
          </a:p>
          <a:p>
            <a:pPr>
              <a:buFont typeface="+mj-lt"/>
              <a:buAutoNum type="arabicPeriod"/>
            </a:pPr>
            <a:endParaRPr lang="en-US" sz="1400" dirty="0" smtClean="0"/>
          </a:p>
          <a:p>
            <a:pPr>
              <a:buFont typeface="+mj-lt"/>
              <a:buAutoNum type="arabicPeriod"/>
            </a:pPr>
            <a:endParaRPr lang="en-US" sz="1400" dirty="0" smtClean="0"/>
          </a:p>
          <a:p>
            <a:pPr>
              <a:buFont typeface="+mj-lt"/>
              <a:buAutoNum type="arabicPeriod"/>
            </a:pPr>
            <a:endParaRPr 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668" y="2204865"/>
            <a:ext cx="4993812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93" y="2996952"/>
            <a:ext cx="3368675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52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Linearization &amp; Model Comparison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/>
              <a:t>2.      Approach 2: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    Two inputs qi and q2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 smtClean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293" y="1628800"/>
            <a:ext cx="48387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60" y="2200604"/>
            <a:ext cx="3216275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253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Transfer Function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7544" y="1600200"/>
            <a:ext cx="8219256" cy="4986015"/>
          </a:xfrm>
        </p:spPr>
        <p:txBody>
          <a:bodyPr>
            <a:normAutofit/>
          </a:bodyPr>
          <a:lstStyle/>
          <a:p>
            <a:r>
              <a:rPr lang="en-US" sz="1400" dirty="0" smtClean="0"/>
              <a:t>Transfer Functions for </a:t>
            </a:r>
          </a:p>
          <a:p>
            <a:pPr>
              <a:buAutoNum type="arabicPeriod"/>
            </a:pPr>
            <a:r>
              <a:rPr lang="en-US" sz="1400" dirty="0" smtClean="0"/>
              <a:t>Approach 1</a:t>
            </a:r>
          </a:p>
          <a:p>
            <a:pPr marL="0" indent="0">
              <a:buNone/>
            </a:pPr>
            <a:r>
              <a:rPr lang="en-US" sz="1400" dirty="0" smtClean="0"/>
              <a:t>         Poles of A: -0.3776, -1.5891</a:t>
            </a:r>
          </a:p>
          <a:p>
            <a:pPr marL="0" indent="0">
              <a:buNone/>
            </a:pPr>
            <a:r>
              <a:rPr lang="en-US" sz="1400" dirty="0" smtClean="0"/>
              <a:t>         System is stable.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2.       Approach 2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	</a:t>
            </a:r>
            <a:endParaRPr lang="en-US" sz="1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628800"/>
            <a:ext cx="244827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645025"/>
            <a:ext cx="2674937" cy="279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356992"/>
            <a:ext cx="3276600" cy="156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070600"/>
            <a:ext cx="3276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77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The system exhibits </a:t>
            </a:r>
            <a:r>
              <a:rPr lang="en-US" sz="1400" b="1" dirty="0" smtClean="0"/>
              <a:t>second-order dynamics</a:t>
            </a:r>
            <a:r>
              <a:rPr lang="en-US" sz="1400" dirty="0" smtClean="0"/>
              <a:t>, as confirmed by the form of the characteristic polynomial obtained from the transfer function models.</a:t>
            </a:r>
          </a:p>
          <a:p>
            <a:r>
              <a:rPr lang="en-US" sz="1400" dirty="0" smtClean="0"/>
              <a:t>The derived </a:t>
            </a:r>
            <a:r>
              <a:rPr lang="en-US" sz="1400" b="1" dirty="0" smtClean="0"/>
              <a:t>transfer functions</a:t>
            </a:r>
            <a:r>
              <a:rPr lang="en-US" sz="1400" dirty="0" smtClean="0"/>
              <a:t> successfully capture the </a:t>
            </a:r>
            <a:r>
              <a:rPr lang="en-US" sz="1400" b="1" dirty="0" smtClean="0"/>
              <a:t>dynamic interaction</a:t>
            </a:r>
            <a:r>
              <a:rPr lang="en-US" sz="1400" dirty="0" smtClean="0"/>
              <a:t> between the inlet flow rate and the liquid levels in both tanks, offering a clear picture of the process behavior.</a:t>
            </a:r>
          </a:p>
          <a:p>
            <a:r>
              <a:rPr lang="en-US" sz="1400" dirty="0" smtClean="0"/>
              <a:t>These transfer functions provide a </a:t>
            </a:r>
            <a:r>
              <a:rPr lang="en-US" sz="1400" b="1" dirty="0" smtClean="0"/>
              <a:t>comprehensive input–output representation</a:t>
            </a:r>
            <a:r>
              <a:rPr lang="en-US" sz="1400" dirty="0" smtClean="0"/>
              <a:t>, making them highly suitable for </a:t>
            </a:r>
            <a:r>
              <a:rPr lang="en-US" sz="1400" b="1" dirty="0" smtClean="0"/>
              <a:t>controller design, system identification, and dynamic analysis</a:t>
            </a:r>
            <a:r>
              <a:rPr lang="en-US" sz="1400" dirty="0" smtClean="0"/>
              <a:t>.</a:t>
            </a:r>
          </a:p>
          <a:p>
            <a:r>
              <a:rPr lang="en-US" sz="1400" dirty="0" smtClean="0"/>
              <a:t>The </a:t>
            </a:r>
            <a:r>
              <a:rPr lang="en-US" sz="1400" b="1" dirty="0" smtClean="0"/>
              <a:t>linearized state-space models</a:t>
            </a:r>
            <a:r>
              <a:rPr lang="en-US" sz="1400" dirty="0" smtClean="0"/>
              <a:t> show excellent agreement with the nonlinear system responses near the operating point, validating the accuracy and applicability of the linear approximation.</a:t>
            </a:r>
          </a:p>
          <a:p>
            <a:pPr lvl="0"/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poles for both approaches are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and non-positive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system stability</a:t>
            </a:r>
            <a:r>
              <a:rPr kumimoji="0" lang="en-US" altLang="en-US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approach 1.</a:t>
            </a:r>
          </a:p>
          <a:p>
            <a:pPr lvl="0"/>
            <a:r>
              <a:rPr lang="en-US" altLang="en-US" sz="14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But,</a:t>
            </a: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approach 2 one pole is zero so system is unstable.</a:t>
            </a:r>
          </a:p>
          <a:p>
            <a:r>
              <a:rPr lang="en-US" sz="1400" dirty="0" smtClean="0"/>
              <a:t>Overall, the modeling and linearization results demonstrate that the two-tank system is </a:t>
            </a:r>
            <a:r>
              <a:rPr lang="en-US" sz="1400" b="1" dirty="0" smtClean="0"/>
              <a:t>stable, well-behaved, and physically consistent</a:t>
            </a:r>
            <a:r>
              <a:rPr lang="en-US" sz="1400" dirty="0" smtClean="0"/>
              <a:t>, and the developed models serve as a reliable basis for </a:t>
            </a:r>
            <a:r>
              <a:rPr lang="en-US" sz="1400" b="1" dirty="0" smtClean="0"/>
              <a:t>future control strategy development</a:t>
            </a:r>
            <a:r>
              <a:rPr lang="en-US" sz="1400" dirty="0" smtClean="0"/>
              <a:t> and </a:t>
            </a:r>
            <a:r>
              <a:rPr lang="en-US" sz="1400" b="1" dirty="0" smtClean="0"/>
              <a:t>performance evaluation</a:t>
            </a:r>
            <a:r>
              <a:rPr lang="en-US" sz="1400" dirty="0" smtClean="0"/>
              <a:t>.</a:t>
            </a:r>
          </a:p>
          <a:p>
            <a:pPr marL="0" lvl="0" indent="0"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83720758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86</TotalTime>
  <Words>560</Words>
  <Application>Microsoft Office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Horizon</vt:lpstr>
      <vt:lpstr>TWO TANK INTERACTING SYSTEM</vt:lpstr>
      <vt:lpstr>PROBLEM</vt:lpstr>
      <vt:lpstr>OBJECTIVES</vt:lpstr>
      <vt:lpstr>Steady State Result</vt:lpstr>
      <vt:lpstr>Non-Linear Model and Simulation</vt:lpstr>
      <vt:lpstr>Linearization &amp; Model Comparison </vt:lpstr>
      <vt:lpstr>Linearization &amp; Model Comparison </vt:lpstr>
      <vt:lpstr>Transfer Function Model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TANK INTERACTING SYSTEM</dc:title>
  <dc:creator>acer</dc:creator>
  <cp:lastModifiedBy>acer</cp:lastModifiedBy>
  <cp:revision>9</cp:revision>
  <dcterms:created xsi:type="dcterms:W3CDTF">2025-10-08T18:05:20Z</dcterms:created>
  <dcterms:modified xsi:type="dcterms:W3CDTF">2025-10-08T19:31:40Z</dcterms:modified>
</cp:coreProperties>
</file>