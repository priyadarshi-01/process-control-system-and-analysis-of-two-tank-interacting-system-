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Prata" charset="0"/>
      <p:regular r:id="rId14"/>
    </p:embeddedFont>
    <p:embeddedFont>
      <p:font typeface="Raleway Bold" charset="0"/>
      <p:regular r:id="rId15"/>
    </p:embeddedFont>
    <p:embeddedFont>
      <p:font typeface="Raleway" charset="0"/>
      <p:regular r:id="rId16"/>
    </p:embeddedFont>
    <p:embeddedFont>
      <p:font typeface="Calibri" pitchFamily="34" charset="0"/>
      <p:regular r:id="rId17"/>
      <p:bold r:id="rId18"/>
      <p:italic r:id="rId19"/>
      <p:boldItalic r:id="rId20"/>
    </p:embeddedFont>
    <p:embeddedFont>
      <p:font typeface="Radley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9" d="100"/>
          <a:sy n="59" d="100"/>
        </p:scale>
        <p:origin x="-418" y="-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629162"/>
            <a:ext cx="15080344" cy="319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72"/>
              </a:lnSpc>
            </a:pPr>
            <a:r>
              <a:rPr lang="en-US" sz="12272">
                <a:solidFill>
                  <a:srgbClr val="804F3B"/>
                </a:solidFill>
                <a:latin typeface="Radley"/>
                <a:ea typeface="Radley"/>
                <a:cs typeface="Radley"/>
                <a:sym typeface="Radley"/>
              </a:rPr>
              <a:t> CH303: Process Control Presentation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40784" y="0"/>
            <a:ext cx="1547216" cy="10287000"/>
            <a:chOff x="0" y="0"/>
            <a:chExt cx="523379" cy="3479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3379" cy="3479800"/>
            </a:xfrm>
            <a:custGeom>
              <a:avLst/>
              <a:gdLst/>
              <a:ahLst/>
              <a:cxnLst/>
              <a:rect l="l" t="t" r="r" b="b"/>
              <a:pathLst>
                <a:path w="523379" h="3479800">
                  <a:moveTo>
                    <a:pt x="0" y="0"/>
                  </a:moveTo>
                  <a:lnTo>
                    <a:pt x="523379" y="0"/>
                  </a:lnTo>
                  <a:lnTo>
                    <a:pt x="523379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E6CCB2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9144000" y="9206520"/>
            <a:ext cx="5913783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804F3B"/>
                </a:solidFill>
                <a:latin typeface="Raleway"/>
                <a:ea typeface="Raleway"/>
                <a:cs typeface="Raleway"/>
                <a:sym typeface="Raleway"/>
              </a:rPr>
              <a:t>Shubham Priyadarshi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8491725"/>
            <a:ext cx="5913783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804F3B"/>
                </a:solidFill>
                <a:latin typeface="Raleway Bold"/>
                <a:ea typeface="Raleway Bold"/>
                <a:cs typeface="Raleway Bold"/>
                <a:sym typeface="Raleway Bold"/>
              </a:rPr>
              <a:t>By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45395" y="3494418"/>
            <a:ext cx="12862824" cy="3126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20"/>
              </a:lnSpc>
            </a:pPr>
            <a:r>
              <a:rPr lang="en-US" sz="9014">
                <a:solidFill>
                  <a:srgbClr val="804F3B"/>
                </a:solidFill>
                <a:latin typeface="Radley"/>
                <a:ea typeface="Radley"/>
                <a:cs typeface="Radley"/>
                <a:sym typeface="Radley"/>
              </a:rPr>
              <a:t>Dynamic Simulation of Two Interacting Sysytem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127588" y="9201150"/>
            <a:ext cx="77360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804F3B"/>
                </a:solidFill>
                <a:latin typeface="Prata"/>
                <a:ea typeface="Prata"/>
                <a:cs typeface="Prata"/>
                <a:sym typeface="Prata"/>
              </a:rPr>
              <a:t>2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40784" y="0"/>
            <a:ext cx="1547216" cy="10287000"/>
            <a:chOff x="0" y="0"/>
            <a:chExt cx="523379" cy="3479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3379" cy="3479800"/>
            </a:xfrm>
            <a:custGeom>
              <a:avLst/>
              <a:gdLst/>
              <a:ahLst/>
              <a:cxnLst/>
              <a:rect l="l" t="t" r="r" b="b"/>
              <a:pathLst>
                <a:path w="523379" h="3479800">
                  <a:moveTo>
                    <a:pt x="0" y="0"/>
                  </a:moveTo>
                  <a:lnTo>
                    <a:pt x="523379" y="0"/>
                  </a:lnTo>
                  <a:lnTo>
                    <a:pt x="523379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E6CCB2"/>
            </a:solid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492445"/>
            <a:ext cx="6848808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804F3B"/>
                </a:solidFill>
                <a:latin typeface="Radley"/>
                <a:ea typeface="Radley"/>
                <a:cs typeface="Radley"/>
                <a:sym typeface="Radley"/>
              </a:rPr>
              <a:t>Table of Contents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127588" y="9201150"/>
            <a:ext cx="77360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804F3B"/>
                </a:solidFill>
                <a:latin typeface="Prata"/>
                <a:ea typeface="Prata"/>
                <a:cs typeface="Prata"/>
                <a:sym typeface="Prata"/>
              </a:rPr>
              <a:t>2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40784" y="0"/>
            <a:ext cx="1547216" cy="10287000"/>
            <a:chOff x="0" y="0"/>
            <a:chExt cx="523379" cy="3479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3379" cy="3479800"/>
            </a:xfrm>
            <a:custGeom>
              <a:avLst/>
              <a:gdLst/>
              <a:ahLst/>
              <a:cxnLst/>
              <a:rect l="l" t="t" r="r" b="b"/>
              <a:pathLst>
                <a:path w="523379" h="3479800">
                  <a:moveTo>
                    <a:pt x="0" y="0"/>
                  </a:moveTo>
                  <a:lnTo>
                    <a:pt x="523379" y="0"/>
                  </a:lnTo>
                  <a:lnTo>
                    <a:pt x="523379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E6CCB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279153" y="5179060"/>
            <a:ext cx="9442033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D2D2D"/>
                </a:solidFill>
                <a:latin typeface="Raleway"/>
                <a:ea typeface="Raleway"/>
                <a:cs typeface="Raleway"/>
                <a:sym typeface="Raleway"/>
              </a:rPr>
              <a:t>Identification of FOPTD Model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79153" y="5917565"/>
            <a:ext cx="686484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D2D2D"/>
                </a:solidFill>
                <a:latin typeface="Raleway"/>
                <a:ea typeface="Raleway"/>
                <a:cs typeface="Raleway"/>
                <a:sym typeface="Raleway"/>
              </a:rPr>
              <a:t>Feedback Control Design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79153" y="7394575"/>
            <a:ext cx="686484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D2D2D"/>
                </a:solidFill>
                <a:latin typeface="Raleway"/>
                <a:ea typeface="Raleway"/>
                <a:cs typeface="Raleway"/>
                <a:sym typeface="Raleway"/>
              </a:rPr>
              <a:t>Closed Loop Stability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440555"/>
            <a:ext cx="65349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D2D2D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5179060"/>
            <a:ext cx="65349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D2D2D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917565"/>
            <a:ext cx="65349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D2D2D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79153" y="3704450"/>
            <a:ext cx="9442033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D2D2D"/>
                </a:solidFill>
                <a:latin typeface="Raleway"/>
                <a:ea typeface="Raleway"/>
                <a:cs typeface="Raleway"/>
                <a:sym typeface="Raleway"/>
              </a:rPr>
              <a:t>Problem Description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79153" y="6656070"/>
            <a:ext cx="9442033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D2D2D"/>
                </a:solidFill>
                <a:latin typeface="Raleway"/>
                <a:ea typeface="Raleway"/>
                <a:cs typeface="Raleway"/>
                <a:sym typeface="Raleway"/>
              </a:rPr>
              <a:t>Identification of FOPTD Model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79153" y="4440555"/>
            <a:ext cx="9442033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D2D2D"/>
                </a:solidFill>
                <a:latin typeface="Raleway"/>
                <a:ea typeface="Raleway"/>
                <a:cs typeface="Raleway"/>
                <a:sym typeface="Raleway"/>
              </a:rPr>
              <a:t>Initial Parameters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3704450"/>
            <a:ext cx="65349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D2D2D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6656070"/>
            <a:ext cx="65349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D2D2D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7394575"/>
            <a:ext cx="65349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D2D2D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8133080"/>
            <a:ext cx="65349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D2D2D"/>
                </a:solidFill>
                <a:latin typeface="Raleway"/>
                <a:ea typeface="Raleway"/>
                <a:cs typeface="Raleway"/>
                <a:sym typeface="Raleway"/>
              </a:rPr>
              <a:t>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79153" y="8133080"/>
            <a:ext cx="686484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D2D2D"/>
                </a:solidFill>
                <a:latin typeface="Raleway"/>
                <a:ea typeface="Raleway"/>
                <a:cs typeface="Raleway"/>
                <a:sym typeface="Raleway"/>
              </a:rPr>
              <a:t>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127588" y="9201150"/>
            <a:ext cx="77360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804F3B"/>
                </a:solidFill>
                <a:latin typeface="Prata"/>
                <a:ea typeface="Prata"/>
                <a:cs typeface="Prata"/>
                <a:sym typeface="Prata"/>
              </a:rPr>
              <a:t>2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40784" y="0"/>
            <a:ext cx="1547216" cy="10287000"/>
            <a:chOff x="0" y="0"/>
            <a:chExt cx="523379" cy="3479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3379" cy="3479800"/>
            </a:xfrm>
            <a:custGeom>
              <a:avLst/>
              <a:gdLst/>
              <a:ahLst/>
              <a:cxnLst/>
              <a:rect l="l" t="t" r="r" b="b"/>
              <a:pathLst>
                <a:path w="523379" h="3479800">
                  <a:moveTo>
                    <a:pt x="0" y="0"/>
                  </a:moveTo>
                  <a:lnTo>
                    <a:pt x="523379" y="0"/>
                  </a:lnTo>
                  <a:lnTo>
                    <a:pt x="523379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E6CCB2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8542738" y="1568959"/>
            <a:ext cx="8198046" cy="3299973"/>
          </a:xfrm>
          <a:custGeom>
            <a:avLst/>
            <a:gdLst/>
            <a:ahLst/>
            <a:cxnLst/>
            <a:rect l="l" t="t" r="r" b="b"/>
            <a:pathLst>
              <a:path w="8198046" h="3299973">
                <a:moveTo>
                  <a:pt x="0" y="0"/>
                </a:moveTo>
                <a:lnTo>
                  <a:pt x="8198046" y="0"/>
                </a:lnTo>
                <a:lnTo>
                  <a:pt x="8198046" y="3299974"/>
                </a:lnTo>
                <a:lnTo>
                  <a:pt x="0" y="3299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205464" y="437225"/>
            <a:ext cx="9667865" cy="715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57"/>
              </a:lnSpc>
            </a:pPr>
            <a:r>
              <a:rPr lang="en-US" sz="3723" b="1" spc="37">
                <a:solidFill>
                  <a:srgbClr val="804F3B"/>
                </a:solidFill>
                <a:latin typeface="Raleway Bold"/>
                <a:ea typeface="Raleway Bold"/>
                <a:cs typeface="Raleway Bold"/>
                <a:sym typeface="Raleway Bold"/>
              </a:rPr>
              <a:t>Problem Description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918147" y="9134475"/>
            <a:ext cx="682307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>
                <a:solidFill>
                  <a:srgbClr val="804F3B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</a:p>
        </p:txBody>
      </p:sp>
      <p:sp>
        <p:nvSpPr>
          <p:cNvPr id="8" name="TextBox 8"/>
          <p:cNvSpPr txBox="1"/>
          <p:nvPr/>
        </p:nvSpPr>
        <p:spPr>
          <a:xfrm rot="5400000">
            <a:off x="16399230" y="1570486"/>
            <a:ext cx="2277949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04F3B"/>
                </a:solidFill>
                <a:latin typeface="Raleway"/>
                <a:ea typeface="Raleway"/>
                <a:cs typeface="Raleway"/>
                <a:sym typeface="Raleway"/>
              </a:rPr>
              <a:t>2025 August 24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1519" y="2286120"/>
            <a:ext cx="7073044" cy="5067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2560">
                <a:solidFill>
                  <a:srgbClr val="804F3B"/>
                </a:solidFill>
                <a:latin typeface="Raleway"/>
                <a:ea typeface="Raleway"/>
                <a:cs typeface="Raleway"/>
                <a:sym typeface="Raleway"/>
              </a:rPr>
              <a:t>Two liquid surge tanks are connected in </a:t>
            </a:r>
            <a:r>
              <a:rPr lang="en-US" sz="2560" b="1">
                <a:solidFill>
                  <a:srgbClr val="804F3B"/>
                </a:solidFill>
                <a:latin typeface="Raleway Bold"/>
                <a:ea typeface="Raleway Bold"/>
                <a:cs typeface="Raleway Bold"/>
                <a:sym typeface="Raleway Bold"/>
              </a:rPr>
              <a:t>series</a:t>
            </a:r>
            <a:r>
              <a:rPr lang="en-US" sz="2560">
                <a:solidFill>
                  <a:srgbClr val="804F3B"/>
                </a:solidFill>
                <a:latin typeface="Raleway"/>
                <a:ea typeface="Raleway"/>
                <a:cs typeface="Raleway"/>
                <a:sym typeface="Raleway"/>
              </a:rPr>
              <a:t> so that the </a:t>
            </a:r>
            <a:r>
              <a:rPr lang="en-US" sz="2560" b="1">
                <a:solidFill>
                  <a:srgbClr val="804F3B"/>
                </a:solidFill>
                <a:latin typeface="Raleway Bold"/>
                <a:ea typeface="Raleway Bold"/>
                <a:cs typeface="Raleway Bold"/>
                <a:sym typeface="Raleway Bold"/>
              </a:rPr>
              <a:t>outflow from Tank 1</a:t>
            </a:r>
            <a:r>
              <a:rPr lang="en-US" sz="2560">
                <a:solidFill>
                  <a:srgbClr val="804F3B"/>
                </a:solidFill>
                <a:latin typeface="Raleway"/>
                <a:ea typeface="Raleway"/>
                <a:cs typeface="Raleway"/>
                <a:sym typeface="Raleway"/>
              </a:rPr>
              <a:t> becomes the </a:t>
            </a:r>
            <a:r>
              <a:rPr lang="en-US" sz="2560" b="1">
                <a:solidFill>
                  <a:srgbClr val="804F3B"/>
                </a:solidFill>
                <a:latin typeface="Raleway Bold"/>
                <a:ea typeface="Raleway Bold"/>
                <a:cs typeface="Raleway Bold"/>
                <a:sym typeface="Raleway Bold"/>
              </a:rPr>
              <a:t>inflow to Tank 2</a:t>
            </a:r>
            <a:r>
              <a:rPr lang="en-US" sz="2560">
                <a:solidFill>
                  <a:srgbClr val="804F3B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algn="l">
              <a:lnSpc>
                <a:spcPts val="3585"/>
              </a:lnSpc>
            </a:pPr>
            <a:endParaRPr lang="en-US" sz="2560">
              <a:solidFill>
                <a:srgbClr val="804F3B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585"/>
              </a:lnSpc>
            </a:pPr>
            <a:r>
              <a:rPr lang="en-US" sz="2560">
                <a:solidFill>
                  <a:srgbClr val="804F3B"/>
                </a:solidFill>
                <a:latin typeface="Raleway"/>
                <a:ea typeface="Raleway"/>
                <a:cs typeface="Raleway"/>
                <a:sym typeface="Raleway"/>
              </a:rPr>
              <a:t>Analyze the dynamics of h2 after step change is introduced.</a:t>
            </a:r>
          </a:p>
          <a:p>
            <a:pPr algn="l">
              <a:lnSpc>
                <a:spcPts val="3585"/>
              </a:lnSpc>
            </a:pPr>
            <a:endParaRPr lang="en-US" sz="2560">
              <a:solidFill>
                <a:srgbClr val="804F3B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585"/>
              </a:lnSpc>
            </a:pPr>
            <a:r>
              <a:rPr lang="en-US" sz="2560">
                <a:solidFill>
                  <a:srgbClr val="804F3B"/>
                </a:solidFill>
                <a:latin typeface="Raleway"/>
                <a:ea typeface="Raleway"/>
                <a:cs typeface="Raleway"/>
                <a:sym typeface="Raleway"/>
              </a:rPr>
              <a:t>In this process the inlet is qi and final outlet is q2.</a:t>
            </a:r>
          </a:p>
          <a:p>
            <a:pPr algn="l">
              <a:lnSpc>
                <a:spcPts val="3585"/>
              </a:lnSpc>
            </a:pPr>
            <a:endParaRPr lang="en-US" sz="2560">
              <a:solidFill>
                <a:srgbClr val="804F3B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r">
              <a:lnSpc>
                <a:spcPts val="4845"/>
              </a:lnSpc>
              <a:spcBef>
                <a:spcPct val="0"/>
              </a:spcBef>
            </a:pPr>
            <a:endParaRPr lang="en-US" sz="2560">
              <a:solidFill>
                <a:srgbClr val="804F3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127588" y="9201150"/>
            <a:ext cx="77360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804F3B"/>
                </a:solidFill>
                <a:latin typeface="Prata"/>
                <a:ea typeface="Prata"/>
                <a:cs typeface="Prata"/>
                <a:sym typeface="Prata"/>
              </a:rPr>
              <a:t>2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40784" y="0"/>
            <a:ext cx="1547216" cy="10287000"/>
            <a:chOff x="0" y="0"/>
            <a:chExt cx="523379" cy="3479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3379" cy="3479800"/>
            </a:xfrm>
            <a:custGeom>
              <a:avLst/>
              <a:gdLst/>
              <a:ahLst/>
              <a:cxnLst/>
              <a:rect l="l" t="t" r="r" b="b"/>
              <a:pathLst>
                <a:path w="523379" h="3479800">
                  <a:moveTo>
                    <a:pt x="0" y="0"/>
                  </a:moveTo>
                  <a:lnTo>
                    <a:pt x="523379" y="0"/>
                  </a:lnTo>
                  <a:lnTo>
                    <a:pt x="523379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E6CCB2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3563707" y="4500999"/>
            <a:ext cx="9480454" cy="1285001"/>
          </a:xfrm>
          <a:custGeom>
            <a:avLst/>
            <a:gdLst/>
            <a:ahLst/>
            <a:cxnLst/>
            <a:rect l="l" t="t" r="r" b="b"/>
            <a:pathLst>
              <a:path w="9480454" h="1285001">
                <a:moveTo>
                  <a:pt x="0" y="0"/>
                </a:moveTo>
                <a:lnTo>
                  <a:pt x="9480454" y="0"/>
                </a:lnTo>
                <a:lnTo>
                  <a:pt x="9480454" y="1285002"/>
                </a:lnTo>
                <a:lnTo>
                  <a:pt x="0" y="128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49870" y="2944177"/>
            <a:ext cx="4652866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2799">
                <a:solidFill>
                  <a:srgbClr val="804F3B"/>
                </a:solidFill>
                <a:latin typeface="Raleway"/>
                <a:ea typeface="Raleway"/>
                <a:cs typeface="Raleway"/>
                <a:sym typeface="Raleway"/>
              </a:rPr>
              <a:t>From Assignment 1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02735" y="895350"/>
            <a:ext cx="4002398" cy="66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499">
                <a:solidFill>
                  <a:srgbClr val="804F3B"/>
                </a:solidFill>
                <a:latin typeface="Radley"/>
                <a:ea typeface="Radley"/>
                <a:cs typeface="Radley"/>
                <a:sym typeface="Radley"/>
              </a:rPr>
              <a:t>Initial Parameters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9870" y="6576576"/>
            <a:ext cx="4652866" cy="2510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2799">
                <a:solidFill>
                  <a:srgbClr val="804F3B"/>
                </a:solidFill>
                <a:latin typeface="Raleway"/>
                <a:ea typeface="Raleway"/>
                <a:cs typeface="Raleway"/>
                <a:sym typeface="Raleway"/>
              </a:rPr>
              <a:t>Here,</a:t>
            </a:r>
          </a:p>
          <a:p>
            <a:pPr algn="l">
              <a:lnSpc>
                <a:spcPts val="5039"/>
              </a:lnSpc>
            </a:pPr>
            <a:r>
              <a:rPr lang="en-US" sz="2799">
                <a:solidFill>
                  <a:srgbClr val="804F3B"/>
                </a:solidFill>
                <a:latin typeface="Raleway"/>
                <a:ea typeface="Raleway"/>
                <a:cs typeface="Raleway"/>
                <a:sym typeface="Raleway"/>
              </a:rPr>
              <a:t>G_Qi = h2 to qi</a:t>
            </a:r>
          </a:p>
          <a:p>
            <a:pPr algn="l">
              <a:lnSpc>
                <a:spcPts val="5039"/>
              </a:lnSpc>
            </a:pPr>
            <a:r>
              <a:rPr lang="en-US" sz="2799">
                <a:solidFill>
                  <a:srgbClr val="804F3B"/>
                </a:solidFill>
                <a:latin typeface="Raleway"/>
                <a:ea typeface="Raleway"/>
                <a:cs typeface="Raleway"/>
                <a:sym typeface="Raleway"/>
              </a:rPr>
              <a:t>G_Q2 = h2 to q2</a:t>
            </a:r>
          </a:p>
          <a:p>
            <a:pPr algn="l">
              <a:lnSpc>
                <a:spcPts val="5039"/>
              </a:lnSpc>
            </a:pPr>
            <a:endParaRPr lang="en-US" sz="2799">
              <a:solidFill>
                <a:srgbClr val="804F3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127588" y="9201150"/>
            <a:ext cx="77360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804F3B"/>
                </a:solidFill>
                <a:latin typeface="Prata"/>
                <a:ea typeface="Prata"/>
                <a:cs typeface="Prata"/>
                <a:sym typeface="Prata"/>
              </a:rPr>
              <a:t>2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40784" y="0"/>
            <a:ext cx="1547216" cy="10287000"/>
            <a:chOff x="0" y="0"/>
            <a:chExt cx="523379" cy="3479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3379" cy="3479800"/>
            </a:xfrm>
            <a:custGeom>
              <a:avLst/>
              <a:gdLst/>
              <a:ahLst/>
              <a:cxnLst/>
              <a:rect l="l" t="t" r="r" b="b"/>
              <a:pathLst>
                <a:path w="523379" h="3479800">
                  <a:moveTo>
                    <a:pt x="0" y="0"/>
                  </a:moveTo>
                  <a:lnTo>
                    <a:pt x="523379" y="0"/>
                  </a:lnTo>
                  <a:lnTo>
                    <a:pt x="523379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E6CCB2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309562" y="1732034"/>
            <a:ext cx="7628178" cy="5741390"/>
          </a:xfrm>
          <a:custGeom>
            <a:avLst/>
            <a:gdLst/>
            <a:ahLst/>
            <a:cxnLst/>
            <a:rect l="l" t="t" r="r" b="b"/>
            <a:pathLst>
              <a:path w="7628178" h="5741390">
                <a:moveTo>
                  <a:pt x="0" y="0"/>
                </a:moveTo>
                <a:lnTo>
                  <a:pt x="7628178" y="0"/>
                </a:lnTo>
                <a:lnTo>
                  <a:pt x="7628178" y="5741390"/>
                </a:lnTo>
                <a:lnTo>
                  <a:pt x="0" y="5741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406035" y="1725117"/>
            <a:ext cx="7556892" cy="5748307"/>
          </a:xfrm>
          <a:custGeom>
            <a:avLst/>
            <a:gdLst/>
            <a:ahLst/>
            <a:cxnLst/>
            <a:rect l="l" t="t" r="r" b="b"/>
            <a:pathLst>
              <a:path w="7556892" h="5748307">
                <a:moveTo>
                  <a:pt x="0" y="0"/>
                </a:moveTo>
                <a:lnTo>
                  <a:pt x="7556892" y="0"/>
                </a:lnTo>
                <a:lnTo>
                  <a:pt x="7556892" y="5748307"/>
                </a:lnTo>
                <a:lnTo>
                  <a:pt x="0" y="57483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302735" y="582612"/>
            <a:ext cx="4002398" cy="749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sz="3999">
                <a:solidFill>
                  <a:srgbClr val="804F3B"/>
                </a:solidFill>
                <a:latin typeface="Radley"/>
                <a:ea typeface="Radley"/>
                <a:cs typeface="Radley"/>
                <a:sym typeface="Radley"/>
              </a:rPr>
              <a:t>FOPTD MODEL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38809" y="7998142"/>
            <a:ext cx="11753136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2799">
                <a:solidFill>
                  <a:srgbClr val="804F3B"/>
                </a:solidFill>
                <a:latin typeface="Raleway"/>
                <a:ea typeface="Raleway"/>
                <a:cs typeface="Raleway"/>
                <a:sym typeface="Raleway"/>
              </a:rPr>
              <a:t>The identified FOPTD model was simulated using the validation dataset.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127588" y="9201150"/>
            <a:ext cx="77360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804F3B"/>
                </a:solidFill>
                <a:latin typeface="Prata"/>
                <a:ea typeface="Prata"/>
                <a:cs typeface="Prata"/>
                <a:sym typeface="Prata"/>
              </a:rPr>
              <a:t>2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40784" y="0"/>
            <a:ext cx="1547216" cy="10287000"/>
            <a:chOff x="0" y="0"/>
            <a:chExt cx="523379" cy="3479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3379" cy="3479800"/>
            </a:xfrm>
            <a:custGeom>
              <a:avLst/>
              <a:gdLst/>
              <a:ahLst/>
              <a:cxnLst/>
              <a:rect l="l" t="t" r="r" b="b"/>
              <a:pathLst>
                <a:path w="523379" h="3479800">
                  <a:moveTo>
                    <a:pt x="0" y="0"/>
                  </a:moveTo>
                  <a:lnTo>
                    <a:pt x="523379" y="0"/>
                  </a:lnTo>
                  <a:lnTo>
                    <a:pt x="523379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E6CCB2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028700" y="1638018"/>
            <a:ext cx="11146396" cy="5913965"/>
          </a:xfrm>
          <a:custGeom>
            <a:avLst/>
            <a:gdLst/>
            <a:ahLst/>
            <a:cxnLst/>
            <a:rect l="l" t="t" r="r" b="b"/>
            <a:pathLst>
              <a:path w="11146396" h="5913965">
                <a:moveTo>
                  <a:pt x="0" y="0"/>
                </a:moveTo>
                <a:lnTo>
                  <a:pt x="11146396" y="0"/>
                </a:lnTo>
                <a:lnTo>
                  <a:pt x="11146396" y="5913966"/>
                </a:lnTo>
                <a:lnTo>
                  <a:pt x="0" y="591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302735" y="582612"/>
            <a:ext cx="4002398" cy="749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sz="3999">
                <a:solidFill>
                  <a:srgbClr val="804F3B"/>
                </a:solidFill>
                <a:latin typeface="Radley"/>
                <a:ea typeface="Radley"/>
                <a:cs typeface="Radley"/>
                <a:sym typeface="Radley"/>
              </a:rPr>
              <a:t>FOPTD MODEL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213971"/>
            <a:ext cx="11146396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2799">
                <a:solidFill>
                  <a:srgbClr val="804F3B"/>
                </a:solidFill>
                <a:latin typeface="Raleway"/>
                <a:ea typeface="Raleway"/>
                <a:cs typeface="Raleway"/>
                <a:sym typeface="Raleway"/>
              </a:rPr>
              <a:t>This FOPTD model predicts the actual system behaviour using 30% validation dataset.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127588" y="9201150"/>
            <a:ext cx="77360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804F3B"/>
                </a:solidFill>
                <a:latin typeface="Prata"/>
                <a:ea typeface="Prata"/>
                <a:cs typeface="Prata"/>
                <a:sym typeface="Prata"/>
              </a:rPr>
              <a:t>2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40784" y="0"/>
            <a:ext cx="1547216" cy="10287000"/>
            <a:chOff x="0" y="0"/>
            <a:chExt cx="523379" cy="3479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3379" cy="3479800"/>
            </a:xfrm>
            <a:custGeom>
              <a:avLst/>
              <a:gdLst/>
              <a:ahLst/>
              <a:cxnLst/>
              <a:rect l="l" t="t" r="r" b="b"/>
              <a:pathLst>
                <a:path w="523379" h="3479800">
                  <a:moveTo>
                    <a:pt x="0" y="0"/>
                  </a:moveTo>
                  <a:lnTo>
                    <a:pt x="523379" y="0"/>
                  </a:lnTo>
                  <a:lnTo>
                    <a:pt x="523379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E6CCB2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354090" y="2423160"/>
            <a:ext cx="7483319" cy="5771226"/>
          </a:xfrm>
          <a:custGeom>
            <a:avLst/>
            <a:gdLst/>
            <a:ahLst/>
            <a:cxnLst/>
            <a:rect l="l" t="t" r="r" b="b"/>
            <a:pathLst>
              <a:path w="7483319" h="5771226">
                <a:moveTo>
                  <a:pt x="0" y="0"/>
                </a:moveTo>
                <a:lnTo>
                  <a:pt x="7483320" y="0"/>
                </a:lnTo>
                <a:lnTo>
                  <a:pt x="7483320" y="5771226"/>
                </a:lnTo>
                <a:lnTo>
                  <a:pt x="0" y="5771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531155" y="2466885"/>
            <a:ext cx="7515885" cy="5727501"/>
          </a:xfrm>
          <a:custGeom>
            <a:avLst/>
            <a:gdLst/>
            <a:ahLst/>
            <a:cxnLst/>
            <a:rect l="l" t="t" r="r" b="b"/>
            <a:pathLst>
              <a:path w="7515885" h="5727501">
                <a:moveTo>
                  <a:pt x="0" y="0"/>
                </a:moveTo>
                <a:lnTo>
                  <a:pt x="7515884" y="0"/>
                </a:lnTo>
                <a:lnTo>
                  <a:pt x="7515884" y="5727501"/>
                </a:lnTo>
                <a:lnTo>
                  <a:pt x="0" y="57275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118863" y="582612"/>
            <a:ext cx="6050273" cy="749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>
                <a:solidFill>
                  <a:srgbClr val="804F3B"/>
                </a:solidFill>
                <a:latin typeface="Radley"/>
                <a:ea typeface="Radley"/>
                <a:cs typeface="Radley"/>
                <a:sym typeface="Radley"/>
              </a:rPr>
              <a:t>Feedback Control Design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03104" y="1730502"/>
            <a:ext cx="2899291" cy="28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5"/>
              </a:lnSpc>
              <a:spcBef>
                <a:spcPct val="0"/>
              </a:spcBef>
            </a:pPr>
            <a:r>
              <a:rPr lang="en-US" sz="1799" b="1">
                <a:solidFill>
                  <a:srgbClr val="804F3B"/>
                </a:solidFill>
                <a:latin typeface="Raleway Bold"/>
                <a:ea typeface="Raleway Bold"/>
                <a:cs typeface="Raleway Bold"/>
                <a:sym typeface="Raleway Bold"/>
              </a:rPr>
              <a:t>CLOSE  LOOP SIMULATION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62506" y="8720455"/>
            <a:ext cx="8848487" cy="10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804F3B"/>
                </a:solidFill>
                <a:latin typeface="Prata"/>
                <a:ea typeface="Prata"/>
                <a:cs typeface="Prata"/>
                <a:sym typeface="Prata"/>
              </a:rPr>
              <a:t>Setpoint step +5% at t=500, disturbance +5% at t=2000. 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endParaRPr lang="en-US" sz="2600">
              <a:solidFill>
                <a:srgbClr val="804F3B"/>
              </a:solidFill>
              <a:latin typeface="Prata"/>
              <a:ea typeface="Prata"/>
              <a:cs typeface="Prata"/>
              <a:sym typeface="Prat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127588" y="9201150"/>
            <a:ext cx="77360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804F3B"/>
                </a:solidFill>
                <a:latin typeface="Prata"/>
                <a:ea typeface="Prata"/>
                <a:cs typeface="Prata"/>
                <a:sym typeface="Prata"/>
              </a:rPr>
              <a:t>2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40784" y="0"/>
            <a:ext cx="1547216" cy="10287000"/>
            <a:chOff x="0" y="0"/>
            <a:chExt cx="523379" cy="3479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3379" cy="3479800"/>
            </a:xfrm>
            <a:custGeom>
              <a:avLst/>
              <a:gdLst/>
              <a:ahLst/>
              <a:cxnLst/>
              <a:rect l="l" t="t" r="r" b="b"/>
              <a:pathLst>
                <a:path w="523379" h="3479800">
                  <a:moveTo>
                    <a:pt x="0" y="0"/>
                  </a:moveTo>
                  <a:lnTo>
                    <a:pt x="523379" y="0"/>
                  </a:lnTo>
                  <a:lnTo>
                    <a:pt x="523379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E6CCB2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765664" y="2126396"/>
            <a:ext cx="8378336" cy="3190148"/>
          </a:xfrm>
          <a:custGeom>
            <a:avLst/>
            <a:gdLst/>
            <a:ahLst/>
            <a:cxnLst/>
            <a:rect l="l" t="t" r="r" b="b"/>
            <a:pathLst>
              <a:path w="8378336" h="3190148">
                <a:moveTo>
                  <a:pt x="0" y="0"/>
                </a:moveTo>
                <a:lnTo>
                  <a:pt x="8378336" y="0"/>
                </a:lnTo>
                <a:lnTo>
                  <a:pt x="8378336" y="3190148"/>
                </a:lnTo>
                <a:lnTo>
                  <a:pt x="0" y="31901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118863" y="582612"/>
            <a:ext cx="6050273" cy="749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>
                <a:solidFill>
                  <a:srgbClr val="804F3B"/>
                </a:solidFill>
                <a:latin typeface="Radley"/>
                <a:ea typeface="Radley"/>
                <a:cs typeface="Radley"/>
                <a:sym typeface="Radley"/>
              </a:rPr>
              <a:t>Feedback Control Design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5808028"/>
            <a:ext cx="16740784" cy="227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7" lvl="1" indent="-215904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804F3B"/>
                </a:solidFill>
                <a:latin typeface="Prata"/>
                <a:ea typeface="Prata"/>
                <a:cs typeface="Prata"/>
                <a:sym typeface="Prata"/>
              </a:rPr>
              <a:t>P Controller:</a:t>
            </a:r>
          </a:p>
          <a:p>
            <a:pPr marL="431807" lvl="1" indent="-215904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804F3B"/>
                </a:solidFill>
                <a:latin typeface="Prata"/>
                <a:ea typeface="Prata"/>
                <a:cs typeface="Prata"/>
                <a:sym typeface="Prata"/>
              </a:rPr>
              <a:t> The proportional controller responds to setpoint changes but shows a steady-state offset. The controlled level h2  does not exactly reach the setpoint, and disturbance rejection is poor.</a:t>
            </a:r>
          </a:p>
          <a:p>
            <a:pPr marL="431807" lvl="1" indent="-215904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804F3B"/>
                </a:solidFill>
                <a:latin typeface="Prata"/>
                <a:ea typeface="Prata"/>
                <a:cs typeface="Prata"/>
                <a:sym typeface="Prata"/>
              </a:rPr>
              <a:t>PI Controller:</a:t>
            </a:r>
          </a:p>
          <a:p>
            <a:pPr marL="431807" lvl="1" indent="-215904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804F3B"/>
                </a:solidFill>
                <a:latin typeface="Prata"/>
                <a:ea typeface="Prata"/>
                <a:cs typeface="Prata"/>
                <a:sym typeface="Prata"/>
              </a:rPr>
              <a:t> Adding integral action eliminates steady-state error, allowing h2​ to accurately track the setpoint. Although small transient spikes appear during changes, overall tracking and disturbance rejection are significantly improved.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endParaRPr lang="en-US" sz="2000">
              <a:solidFill>
                <a:srgbClr val="804F3B"/>
              </a:solidFill>
              <a:latin typeface="Prata"/>
              <a:ea typeface="Prata"/>
              <a:cs typeface="Prata"/>
              <a:sym typeface="Prata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5424" y="8571546"/>
            <a:ext cx="9578816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804F3B"/>
                </a:solidFill>
                <a:latin typeface="Prata"/>
                <a:ea typeface="Prata"/>
                <a:cs typeface="Prata"/>
                <a:sym typeface="Prata"/>
              </a:rPr>
              <a:t>Oscillations in the curve is made smooth after decreasing Kc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127588" y="9201150"/>
            <a:ext cx="77360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804F3B"/>
                </a:solidFill>
                <a:latin typeface="Prata"/>
                <a:ea typeface="Prata"/>
                <a:cs typeface="Prata"/>
                <a:sym typeface="Prata"/>
              </a:rPr>
              <a:t>2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40784" y="0"/>
            <a:ext cx="1547216" cy="10287000"/>
            <a:chOff x="0" y="0"/>
            <a:chExt cx="523379" cy="3479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3379" cy="3479800"/>
            </a:xfrm>
            <a:custGeom>
              <a:avLst/>
              <a:gdLst/>
              <a:ahLst/>
              <a:cxnLst/>
              <a:rect l="l" t="t" r="r" b="b"/>
              <a:pathLst>
                <a:path w="523379" h="3479800">
                  <a:moveTo>
                    <a:pt x="0" y="0"/>
                  </a:moveTo>
                  <a:lnTo>
                    <a:pt x="523379" y="0"/>
                  </a:lnTo>
                  <a:lnTo>
                    <a:pt x="523379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E6CCB2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8358502" y="2056739"/>
            <a:ext cx="7786602" cy="6170515"/>
          </a:xfrm>
          <a:custGeom>
            <a:avLst/>
            <a:gdLst/>
            <a:ahLst/>
            <a:cxnLst/>
            <a:rect l="l" t="t" r="r" b="b"/>
            <a:pathLst>
              <a:path w="7786602" h="6170515">
                <a:moveTo>
                  <a:pt x="0" y="0"/>
                </a:moveTo>
                <a:lnTo>
                  <a:pt x="7786602" y="0"/>
                </a:lnTo>
                <a:lnTo>
                  <a:pt x="7786602" y="6170515"/>
                </a:lnTo>
                <a:lnTo>
                  <a:pt x="0" y="61705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06397" y="2059746"/>
            <a:ext cx="7356425" cy="6167508"/>
          </a:xfrm>
          <a:custGeom>
            <a:avLst/>
            <a:gdLst/>
            <a:ahLst/>
            <a:cxnLst/>
            <a:rect l="l" t="t" r="r" b="b"/>
            <a:pathLst>
              <a:path w="7356425" h="6167508">
                <a:moveTo>
                  <a:pt x="0" y="0"/>
                </a:moveTo>
                <a:lnTo>
                  <a:pt x="7356425" y="0"/>
                </a:lnTo>
                <a:lnTo>
                  <a:pt x="7356425" y="6167508"/>
                </a:lnTo>
                <a:lnTo>
                  <a:pt x="0" y="6167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333051" y="582612"/>
            <a:ext cx="6050273" cy="749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sz="3999">
                <a:solidFill>
                  <a:srgbClr val="804F3B"/>
                </a:solidFill>
                <a:latin typeface="Radley"/>
                <a:ea typeface="Radley"/>
                <a:cs typeface="Radley"/>
                <a:sym typeface="Radley"/>
              </a:rPr>
              <a:t>STABILITY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2127" y="9201150"/>
            <a:ext cx="959989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804F3B"/>
                </a:solidFill>
                <a:latin typeface="Prata"/>
                <a:ea typeface="Prata"/>
                <a:cs typeface="Prata"/>
                <a:sym typeface="Prata"/>
              </a:rPr>
              <a:t>Poles are on LHP side whisch ensures stability of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127588" y="9201150"/>
            <a:ext cx="77360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804F3B"/>
                </a:solidFill>
                <a:latin typeface="Prata"/>
                <a:ea typeface="Prata"/>
                <a:cs typeface="Prata"/>
                <a:sym typeface="Prata"/>
              </a:rPr>
              <a:t>2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40784" y="0"/>
            <a:ext cx="1547216" cy="10287000"/>
            <a:chOff x="0" y="0"/>
            <a:chExt cx="523379" cy="3479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3379" cy="3479800"/>
            </a:xfrm>
            <a:custGeom>
              <a:avLst/>
              <a:gdLst/>
              <a:ahLst/>
              <a:cxnLst/>
              <a:rect l="l" t="t" r="r" b="b"/>
              <a:pathLst>
                <a:path w="523379" h="3479800">
                  <a:moveTo>
                    <a:pt x="0" y="0"/>
                  </a:moveTo>
                  <a:lnTo>
                    <a:pt x="523379" y="0"/>
                  </a:lnTo>
                  <a:lnTo>
                    <a:pt x="523379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E6CCB2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5333051" y="582612"/>
            <a:ext cx="6050273" cy="749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sz="3999">
                <a:solidFill>
                  <a:srgbClr val="804F3B"/>
                </a:solidFill>
                <a:latin typeface="Radley"/>
                <a:ea typeface="Radley"/>
                <a:cs typeface="Radley"/>
                <a:sym typeface="Radley"/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56388" y="2125662"/>
            <a:ext cx="14241773" cy="4578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9"/>
              </a:lnSpc>
            </a:pPr>
            <a:r>
              <a:rPr lang="en-US" sz="3199" dirty="0">
                <a:solidFill>
                  <a:srgbClr val="804F3B"/>
                </a:solidFill>
                <a:latin typeface="Radley"/>
                <a:ea typeface="Radley"/>
                <a:cs typeface="Radley"/>
                <a:sym typeface="Radley"/>
              </a:rPr>
              <a:t>The dynamic simulation of two tank interacting system is successfully analyzed.</a:t>
            </a:r>
          </a:p>
          <a:p>
            <a:pPr algn="l">
              <a:lnSpc>
                <a:spcPts val="5119"/>
              </a:lnSpc>
            </a:pPr>
            <a:endParaRPr lang="en-US" sz="3199" dirty="0">
              <a:solidFill>
                <a:srgbClr val="804F3B"/>
              </a:solidFill>
              <a:latin typeface="Radley"/>
              <a:ea typeface="Radley"/>
              <a:cs typeface="Radley"/>
              <a:sym typeface="Radley"/>
            </a:endParaRPr>
          </a:p>
          <a:p>
            <a:pPr algn="l">
              <a:lnSpc>
                <a:spcPts val="5119"/>
              </a:lnSpc>
            </a:pPr>
            <a:r>
              <a:rPr lang="en-US" sz="3199" dirty="0">
                <a:solidFill>
                  <a:srgbClr val="804F3B"/>
                </a:solidFill>
                <a:latin typeface="Radley"/>
                <a:ea typeface="Radley"/>
                <a:cs typeface="Radley"/>
                <a:sym typeface="Radley"/>
              </a:rPr>
              <a:t>Successfully validate time constant, process gain and time delay using FOPTD model.</a:t>
            </a:r>
          </a:p>
          <a:p>
            <a:pPr algn="l">
              <a:lnSpc>
                <a:spcPts val="5119"/>
              </a:lnSpc>
            </a:pPr>
            <a:endParaRPr lang="en-US" sz="3199" dirty="0">
              <a:solidFill>
                <a:srgbClr val="804F3B"/>
              </a:solidFill>
              <a:latin typeface="Radley"/>
              <a:ea typeface="Radley"/>
              <a:cs typeface="Radley"/>
              <a:sym typeface="Radley"/>
            </a:endParaRPr>
          </a:p>
          <a:p>
            <a:pPr algn="l">
              <a:lnSpc>
                <a:spcPts val="5119"/>
              </a:lnSpc>
            </a:pPr>
            <a:r>
              <a:rPr lang="en-US" sz="3199" dirty="0">
                <a:solidFill>
                  <a:srgbClr val="804F3B"/>
                </a:solidFill>
                <a:latin typeface="Radley"/>
                <a:ea typeface="Radley"/>
                <a:cs typeface="Radley"/>
                <a:sym typeface="Radley"/>
              </a:rPr>
              <a:t>System will be always stable if </a:t>
            </a:r>
            <a:r>
              <a:rPr lang="en-US" sz="3199" dirty="0" err="1">
                <a:solidFill>
                  <a:srgbClr val="804F3B"/>
                </a:solidFill>
                <a:latin typeface="Radley"/>
                <a:ea typeface="Radley"/>
                <a:cs typeface="Radley"/>
                <a:sym typeface="Radley"/>
              </a:rPr>
              <a:t>Kc</a:t>
            </a:r>
            <a:r>
              <a:rPr lang="en-US" sz="3199" dirty="0">
                <a:solidFill>
                  <a:srgbClr val="804F3B"/>
                </a:solidFill>
                <a:latin typeface="Radley"/>
                <a:ea typeface="Radley"/>
                <a:cs typeface="Radley"/>
                <a:sym typeface="Radley"/>
              </a:rPr>
              <a:t> will be greater than </a:t>
            </a:r>
            <a:r>
              <a:rPr lang="en-US" sz="3199" dirty="0" smtClean="0">
                <a:solidFill>
                  <a:srgbClr val="804F3B"/>
                </a:solidFill>
                <a:latin typeface="Radley"/>
                <a:ea typeface="Radley"/>
                <a:cs typeface="Radley"/>
                <a:sym typeface="Radley"/>
              </a:rPr>
              <a:t>zero but </a:t>
            </a:r>
            <a:r>
              <a:rPr lang="en-US" sz="3199" dirty="0" err="1" smtClean="0">
                <a:solidFill>
                  <a:srgbClr val="804F3B"/>
                </a:solidFill>
                <a:latin typeface="Radley"/>
                <a:ea typeface="Radley"/>
                <a:cs typeface="Radley"/>
                <a:sym typeface="Radley"/>
              </a:rPr>
              <a:t>Kc</a:t>
            </a:r>
            <a:r>
              <a:rPr lang="en-US" sz="3199" dirty="0" smtClean="0">
                <a:solidFill>
                  <a:srgbClr val="804F3B"/>
                </a:solidFill>
                <a:latin typeface="Radley"/>
                <a:ea typeface="Radley"/>
                <a:cs typeface="Radley"/>
                <a:sym typeface="Radley"/>
              </a:rPr>
              <a:t> will be stable for finite region.</a:t>
            </a:r>
            <a:endParaRPr lang="en-US" sz="3199" dirty="0">
              <a:solidFill>
                <a:srgbClr val="804F3B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0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127588" y="9201150"/>
            <a:ext cx="77360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804F3B"/>
                </a:solidFill>
                <a:latin typeface="Prata"/>
                <a:ea typeface="Prata"/>
                <a:cs typeface="Prata"/>
                <a:sym typeface="Prata"/>
              </a:rPr>
              <a:t>2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40784" y="0"/>
            <a:ext cx="1547216" cy="10287000"/>
            <a:chOff x="0" y="0"/>
            <a:chExt cx="523379" cy="3479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3379" cy="3479800"/>
            </a:xfrm>
            <a:custGeom>
              <a:avLst/>
              <a:gdLst/>
              <a:ahLst/>
              <a:cxnLst/>
              <a:rect l="l" t="t" r="r" b="b"/>
              <a:pathLst>
                <a:path w="523379" h="3479800">
                  <a:moveTo>
                    <a:pt x="0" y="0"/>
                  </a:moveTo>
                  <a:lnTo>
                    <a:pt x="523379" y="0"/>
                  </a:lnTo>
                  <a:lnTo>
                    <a:pt x="523379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E6CCB2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4975863" y="3983037"/>
            <a:ext cx="6050273" cy="108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19"/>
              </a:lnSpc>
            </a:pPr>
            <a:r>
              <a:rPr lang="en-US" sz="5699">
                <a:solidFill>
                  <a:srgbClr val="804F3B"/>
                </a:solidFill>
                <a:latin typeface="Radley"/>
                <a:ea typeface="Radley"/>
                <a:cs typeface="Radley"/>
                <a:sym typeface="Radle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</Words>
  <Application>Microsoft Office PowerPoint</Application>
  <PresentationFormat>Custom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Prata</vt:lpstr>
      <vt:lpstr>Raleway Bold</vt:lpstr>
      <vt:lpstr>Raleway</vt:lpstr>
      <vt:lpstr>Calibri</vt:lpstr>
      <vt:lpstr>Radley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Monochrome Simple Minimalist Research Project Final Defense Presentation Template</dc:title>
  <cp:lastModifiedBy>acer</cp:lastModifiedBy>
  <cp:revision>2</cp:revision>
  <dcterms:created xsi:type="dcterms:W3CDTF">2006-08-16T00:00:00Z</dcterms:created>
  <dcterms:modified xsi:type="dcterms:W3CDTF">2025-11-27T09:59:02Z</dcterms:modified>
  <dc:identifier>DAG534A9468</dc:identifier>
</cp:coreProperties>
</file>